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22"/>
  </p:notesMasterIdLst>
  <p:handoutMasterIdLst>
    <p:handoutMasterId r:id="rId23"/>
  </p:handoutMasterIdLst>
  <p:sldIdLst>
    <p:sldId id="256" r:id="rId3"/>
    <p:sldId id="257" r:id="rId4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6"/>
  </p:sldIdLst>
  <p:sldSz cx="9906000" cy="6858000" type="A4"/>
  <p:notesSz cx="7086600" cy="10221913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1pPr>
    <a:lvl2pPr marL="4572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2pPr>
    <a:lvl3pPr marL="9144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3pPr>
    <a:lvl4pPr marL="13716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4pPr>
    <a:lvl5pPr marL="1828800" algn="l" defTabSz="449263" rtl="0" eaLnBrk="0" fontAlgn="base" hangingPunct="0">
      <a:spcBef>
        <a:spcPct val="0"/>
      </a:spcBef>
      <a:spcAft>
        <a:spcPct val="0"/>
      </a:spcAft>
      <a:buClr>
        <a:srgbClr val="000000"/>
      </a:buClr>
      <a:buSzPct val="100000"/>
      <a:buFont typeface="Arial" charset="0"/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charset="0"/>
        <a:ea typeface="Arial Unicode MS" pitchFamily="34" charset="-128"/>
        <a:cs typeface="Arial Unicode MS" pitchFamily="3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0">
          <p15:clr>
            <a:srgbClr val="A4A3A4"/>
          </p15:clr>
        </p15:guide>
        <p15:guide id="2" pos="223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31" autoAdjust="0"/>
    <p:restoredTop sz="92448" autoAdjust="0"/>
  </p:normalViewPr>
  <p:slideViewPr>
    <p:cSldViewPr>
      <p:cViewPr varScale="1">
        <p:scale>
          <a:sx n="119" d="100"/>
          <a:sy n="119" d="100"/>
        </p:scale>
        <p:origin x="832" y="19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3220"/>
        <p:guide pos="2232"/>
      </p:guideLst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6" Type="http://schemas.openxmlformats.org/officeDocument/2006/relationships/slide" Target="slides/slide28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4788" y="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algn="r"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3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0915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4788" y="9709150"/>
            <a:ext cx="307022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algn="r" defTabSz="485775">
              <a:defRPr sz="13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9CBFC2FC-AB15-4A86-A090-42EA9D9D810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5174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1"/>
          <p:cNvSpPr>
            <a:spLocks noChangeArrowheads="1"/>
          </p:cNvSpPr>
          <p:nvPr/>
        </p:nvSpPr>
        <p:spPr bwMode="auto">
          <a:xfrm>
            <a:off x="0" y="0"/>
            <a:ext cx="7086600" cy="102219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06863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t" anchorCtr="0" compatLnSpc="1">
            <a:prstTxWarp prst="textNoShape">
              <a:avLst/>
            </a:prstTxWarp>
          </a:bodyPr>
          <a:lstStyle>
            <a:lvl1pPr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014788" y="0"/>
            <a:ext cx="306863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t" anchorCtr="0" compatLnSpc="1">
            <a:prstTxWarp prst="textNoShape">
              <a:avLst/>
            </a:prstTxWarp>
          </a:bodyPr>
          <a:lstStyle>
            <a:lvl1pPr algn="r"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173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776288" y="766763"/>
            <a:ext cx="5532437" cy="383063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708025" y="4856163"/>
            <a:ext cx="5668963" cy="459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/>
          </p:nvPr>
        </p:nvSpPr>
        <p:spPr bwMode="auto">
          <a:xfrm>
            <a:off x="0" y="9709150"/>
            <a:ext cx="306863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b" anchorCtr="0" compatLnSpc="1">
            <a:prstTxWarp prst="textNoShape">
              <a:avLst/>
            </a:prstTxWarp>
          </a:bodyPr>
          <a:lstStyle>
            <a:lvl1pPr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4014788" y="9709150"/>
            <a:ext cx="306863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344" tIns="50619" rIns="97344" bIns="50619" numCol="1" anchor="b" anchorCtr="0" compatLnSpc="1">
            <a:prstTxWarp prst="textNoShape">
              <a:avLst/>
            </a:prstTxWarp>
          </a:bodyPr>
          <a:lstStyle>
            <a:lvl1pPr algn="r" defTabSz="485775" eaLnBrk="1">
              <a:buSzPct val="45000"/>
              <a:buFont typeface="Wingdings" pitchFamily="2" charset="2"/>
              <a:buNone/>
              <a:tabLst>
                <a:tab pos="782638" algn="l"/>
                <a:tab pos="1565275" algn="l"/>
                <a:tab pos="2349500" algn="l"/>
                <a:tab pos="3132138" algn="l"/>
              </a:tabLst>
              <a:defRPr sz="1300" smtClean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705325CD-D4D1-46AB-A07B-76CAD4A152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83296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defTabSz="485775"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485775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charset="0"/>
              <a:tabLst>
                <a:tab pos="782638" algn="l"/>
                <a:tab pos="1565275" algn="l"/>
                <a:tab pos="2349500" algn="l"/>
                <a:tab pos="3132138" algn="l"/>
              </a:tabLst>
              <a:defRPr>
                <a:solidFill>
                  <a:schemeClr val="bg1"/>
                </a:solidFill>
                <a:latin typeface="Arial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4B24E597-641E-4831-92E7-FE32F3EB8DD0}" type="slidenum">
              <a:rPr lang="en-GB">
                <a:solidFill>
                  <a:srgbClr val="000000"/>
                </a:solidFill>
                <a:latin typeface="Times New Roman" pitchFamily="18" charset="0"/>
              </a:rPr>
              <a:pPr/>
              <a:t>1</a:t>
            </a:fld>
            <a:endParaRPr lang="en-GB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8195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774700" y="766763"/>
            <a:ext cx="5537200" cy="3833812"/>
          </a:xfrm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6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08025" y="4856163"/>
            <a:ext cx="5670550" cy="4598987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8902" tIns="49451" rIns="98902" bIns="49451" anchor="ctr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additional features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DAA5FB-1A88-4438-BFBB-9BBB90E531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98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additional features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317CFC-9530-4DD8-A082-6933CE16E3A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156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additional features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8FDBB7-AE6C-44A4-9354-E420422B6D9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2530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73431" cy="4529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3831" y="1600200"/>
            <a:ext cx="4375150" cy="4529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additional features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891112-9BC8-4B82-B6DA-AD3952AEF2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265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additional features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2EFEF-B460-41E1-B380-21E0D72C12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086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additional features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55FF55-9A51-49BC-91F0-BC8E688F18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464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additional features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7ADF69-52E3-48D5-99E7-63105AE4C1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894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additional features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4FB47-FC34-470D-975D-818673632D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8248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additional features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B56B33-355B-4F00-98F1-AAA0DA53B9B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50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additional features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15734D-DD4C-4AFE-A48C-C042F044E4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612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277814"/>
            <a:ext cx="2227131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277814"/>
            <a:ext cx="65214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additional features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8A648-AA13-472B-B8F8-A061FAD948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577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additional features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331D7C-3F02-481D-A2CB-CE756043E4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297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additional features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C999C5-CA01-4C37-9A77-0BC9D4DCC8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730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additional features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EECA9A-3BFE-4494-AE79-033AB3181B4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8933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4964"/>
            <a:ext cx="4373431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3831" y="1604964"/>
            <a:ext cx="4375150" cy="45243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additional features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055E91-4FFC-497B-9460-CB8D1F1E6E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57262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additional features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E5E714-687B-490B-BC5F-848B0211A5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462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additional features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BA0F8F-584F-4FE6-8B99-D18FEFDE602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6565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additional features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DBC1AD-34F6-412E-A983-7210815D512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9051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additional features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BC6ED-34ED-4D17-86C5-68EFDB043C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2688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additional features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B58291-C605-4591-98C4-EA212E3823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596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additional features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F961CE-61F8-4BC5-8BB3-B0A0F0B4CA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1860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1850" y="685800"/>
            <a:ext cx="2227131" cy="54435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685800"/>
            <a:ext cx="6521450" cy="54435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additional features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A37626-AC2C-4FBA-AD1A-B46461F8D7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1562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685801"/>
            <a:ext cx="8418381" cy="21256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additional features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D173BD-EAA9-43F3-A181-9BB25AB1E9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71832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?>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7814"/>
            <a:ext cx="8913681" cy="1138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3681" cy="4529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  <a:p>
            <a:pPr lvl="4"/>
            <a:r>
              <a:rPr lang="en-GB"/>
              <a:t>Eighth Outline Level</a:t>
            </a:r>
          </a:p>
          <a:p>
            <a:pPr lvl="4"/>
            <a:r>
              <a:rPr lang="en-GB"/>
              <a:t>Ninth Outline Level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428229" y="6524626"/>
            <a:ext cx="230968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3393149" y="6524626"/>
            <a:ext cx="313518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additional features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7137136" y="6524626"/>
            <a:ext cx="2309681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buFont typeface="Verdana" pitchFamily="34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fld id="{D170E260-D032-4AF5-A4B0-E2382247C2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31" name="Rectangle 6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rgbClr val="00008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2" name="Line 7"/>
          <p:cNvSpPr>
            <a:spLocks noChangeShapeType="1"/>
          </p:cNvSpPr>
          <p:nvPr/>
        </p:nvSpPr>
        <p:spPr bwMode="auto">
          <a:xfrm>
            <a:off x="495300" y="1447800"/>
            <a:ext cx="8750300" cy="1588"/>
          </a:xfrm>
          <a:prstGeom prst="line">
            <a:avLst/>
          </a:prstGeom>
          <a:noFill/>
          <a:ln w="19080">
            <a:solidFill>
              <a:srgbClr val="00008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3" name="Rectangle 8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rgbClr val="3366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" name="Rectangle 9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00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5pPr>
      <a:lvl6pPr marL="4572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6pPr>
      <a:lvl7pPr marL="9144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7pPr>
      <a:lvl8pPr marL="13716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8pPr>
      <a:lvl9pPr marL="18288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9pPr>
    </p:titleStyle>
    <p:bodyStyle>
      <a:lvl1pPr marL="341313" indent="-341313" algn="l" defTabSz="449263" rtl="0" eaLnBrk="0" fontAlgn="base" hangingPunct="0">
        <a:lnSpc>
          <a:spcPct val="125000"/>
        </a:lnSpc>
        <a:spcBef>
          <a:spcPts val="7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"/>
        <a:defRPr sz="2800">
          <a:solidFill>
            <a:srgbClr val="000000"/>
          </a:solidFill>
          <a:latin typeface="+mn-lt"/>
          <a:ea typeface="+mn-ea"/>
          <a:cs typeface="+mn-cs"/>
        </a:defRPr>
      </a:lvl1pPr>
      <a:lvl2pPr marL="741363" indent="-284163" algn="l" defTabSz="449263" rtl="0" eaLnBrk="0" fontAlgn="base" hangingPunct="0">
        <a:lnSpc>
          <a:spcPct val="115000"/>
        </a:lnSpc>
        <a:spcBef>
          <a:spcPts val="6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"/>
        <a:defRPr sz="24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15000"/>
        </a:lnSpc>
        <a:spcBef>
          <a:spcPts val="500"/>
        </a:spcBef>
        <a:spcAft>
          <a:spcPct val="0"/>
        </a:spcAft>
        <a:buClr>
          <a:srgbClr val="00CCFF"/>
        </a:buClr>
        <a:buSzPct val="65000"/>
        <a:buFont typeface="Wingdings" pitchFamily="2" charset="2"/>
        <a:buChar char=""/>
        <a:defRPr sz="20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10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742950" y="685801"/>
            <a:ext cx="8418381" cy="212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dt"/>
          </p:nvPr>
        </p:nvSpPr>
        <p:spPr bwMode="auto">
          <a:xfrm>
            <a:off x="495300" y="6248401"/>
            <a:ext cx="2309681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eaLnBrk="1">
              <a:buFont typeface="Verdana" pitchFamily="34" charset="0"/>
              <a:buNone/>
              <a:tabLst>
                <a:tab pos="723900" algn="l"/>
                <a:tab pos="14478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ftr"/>
          </p:nvPr>
        </p:nvSpPr>
        <p:spPr bwMode="auto">
          <a:xfrm>
            <a:off x="3384550" y="6248401"/>
            <a:ext cx="3135181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ctr" eaLnBrk="1">
              <a:buFont typeface="Verdana" pitchFamily="34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/>
              <a:t>additional features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ldNum"/>
          </p:nvPr>
        </p:nvSpPr>
        <p:spPr bwMode="auto">
          <a:xfrm>
            <a:off x="7099300" y="6248401"/>
            <a:ext cx="2309681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 eaLnBrk="1">
              <a:buFont typeface="Verdana" pitchFamily="34" charset="0"/>
              <a:buNone/>
              <a:tabLst>
                <a:tab pos="723900" algn="l"/>
                <a:tab pos="1447800" algn="l"/>
              </a:tabLst>
              <a:defRPr sz="1000" smtClean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fld id="{EBBAEC79-F64B-4999-8F10-F75F3E166C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aphicFrame>
        <p:nvGraphicFramePr>
          <p:cNvPr id="2054" name="Object 5"/>
          <p:cNvGraphicFramePr>
            <a:graphicFrameLocks noChangeAspect="1"/>
          </p:cNvGraphicFramePr>
          <p:nvPr/>
        </p:nvGraphicFramePr>
        <p:xfrm>
          <a:off x="271728" y="2924176"/>
          <a:ext cx="9283435" cy="19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7591552" imgH="391770" progId="">
                  <p:embed/>
                </p:oleObj>
              </mc:Choice>
              <mc:Fallback>
                <p:oleObj r:id="rId14" imgW="7591552" imgH="39177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28" y="2924176"/>
                        <a:ext cx="9283435" cy="195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blipFill dpi="0" rotWithShape="0">
                              <a:blip/>
                              <a:srcRect/>
                              <a:stretch>
                                <a:fillRect/>
                              </a:stretch>
                            </a:blip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5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4964"/>
            <a:ext cx="8913681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  <a:p>
            <a:pPr lvl="4"/>
            <a:r>
              <a:rPr lang="en-GB"/>
              <a:t>Eighth Outline Level</a:t>
            </a:r>
          </a:p>
          <a:p>
            <a:pPr lvl="4"/>
            <a:r>
              <a:rPr lang="en-GB"/>
              <a:t>Ninth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/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5pPr>
      <a:lvl6pPr marL="4572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6pPr>
      <a:lvl7pPr marL="9144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7pPr>
      <a:lvl8pPr marL="13716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8pPr>
      <a:lvl9pPr marL="1828800" algn="l" defTabSz="449263" rtl="0" fontAlgn="base">
        <a:spcBef>
          <a:spcPct val="0"/>
        </a:spcBef>
        <a:spcAft>
          <a:spcPct val="0"/>
        </a:spcAft>
        <a:buClr>
          <a:srgbClr val="170199"/>
        </a:buClr>
        <a:buSzPct val="100000"/>
        <a:buFont typeface="Garamond" pitchFamily="18" charset="0"/>
        <a:defRPr sz="4400" b="1">
          <a:solidFill>
            <a:srgbClr val="170199"/>
          </a:solidFill>
          <a:latin typeface="Garamond" pitchFamily="18" charset="0"/>
          <a:ea typeface="Arial Unicode MS" pitchFamily="34" charset="-128"/>
          <a:cs typeface="Arial Unicode MS" pitchFamily="34" charset="-128"/>
        </a:defRPr>
      </a:lvl9pPr>
    </p:titleStyle>
    <p:bodyStyle>
      <a:lvl1pPr marL="341313" indent="-341313" algn="l" defTabSz="449263" rtl="0" eaLnBrk="0" fontAlgn="base" hangingPunct="0">
        <a:lnSpc>
          <a:spcPct val="125000"/>
        </a:lnSpc>
        <a:spcBef>
          <a:spcPts val="7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"/>
        <a:defRPr sz="2800">
          <a:solidFill>
            <a:srgbClr val="000000"/>
          </a:solidFill>
          <a:latin typeface="+mn-lt"/>
          <a:ea typeface="+mn-ea"/>
          <a:cs typeface="+mn-cs"/>
        </a:defRPr>
      </a:lvl1pPr>
      <a:lvl2pPr marL="741363" indent="-284163" algn="l" defTabSz="449263" rtl="0" eaLnBrk="0" fontAlgn="base" hangingPunct="0">
        <a:lnSpc>
          <a:spcPct val="115000"/>
        </a:lnSpc>
        <a:spcBef>
          <a:spcPts val="600"/>
        </a:spcBef>
        <a:spcAft>
          <a:spcPct val="0"/>
        </a:spcAft>
        <a:buClr>
          <a:srgbClr val="170199"/>
        </a:buClr>
        <a:buSzPct val="75000"/>
        <a:buFont typeface="Wingdings" pitchFamily="2" charset="2"/>
        <a:buChar char=""/>
        <a:defRPr sz="24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115000"/>
        </a:lnSpc>
        <a:spcBef>
          <a:spcPts val="500"/>
        </a:spcBef>
        <a:spcAft>
          <a:spcPct val="0"/>
        </a:spcAft>
        <a:buClr>
          <a:srgbClr val="00CCFF"/>
        </a:buClr>
        <a:buSzPct val="65000"/>
        <a:buFont typeface="Wingdings" pitchFamily="2" charset="2"/>
        <a:buChar char=""/>
        <a:defRPr sz="20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10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lnSpc>
          <a:spcPct val="110000"/>
        </a:lnSpc>
        <a:spcBef>
          <a:spcPts val="450"/>
        </a:spcBef>
        <a:spcAft>
          <a:spcPct val="0"/>
        </a:spcAft>
        <a:buClr>
          <a:srgbClr val="170199"/>
        </a:buClr>
        <a:buSzPct val="80000"/>
        <a:buFont typeface="Wingdings" pitchFamily="2" charset="2"/>
        <a:buChar char=""/>
        <a:defRPr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22.xml.rels><?xml version="1.0" encoding="UTF-8"?>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DB317A-B09E-4609-B950-7F75FB78108D}" type="slidenum">
              <a:rPr lang="en-GB"/>
              <a:pPr>
                <a:defRPr/>
              </a:pPr>
              <a:t>1</a:t>
            </a:fld>
            <a:endParaRPr lang="en-GB"/>
          </a:p>
        </p:txBody>
      </p:sp>
      <p:sp>
        <p:nvSpPr>
          <p:cNvPr id="3075" name="Rectangle 1"/>
          <p:cNvSpPr>
            <a:spLocks noGrp="1" noChangeArrowheads="1"/>
          </p:cNvSpPr>
          <p:nvPr>
            <p:ph type="title"/>
          </p:nvPr>
        </p:nvSpPr>
        <p:spPr>
          <a:xfrm>
            <a:off x="704851" y="692150"/>
            <a:ext cx="8424863" cy="2127250"/>
          </a:xfrm>
        </p:spPr>
        <p:txBody>
          <a:bodyPr/>
          <a:lstStyle/>
          <a:p>
            <a:pPr algn="ctr"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Python Objects &amp; Operators</a:t>
            </a:r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subTitle" idx="4294967295"/>
          </p:nvPr>
        </p:nvSpPr>
        <p:spPr>
          <a:xfrm>
            <a:off x="1752600" y="3513364"/>
            <a:ext cx="6400800" cy="1966685"/>
          </a:xfrm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ts val="7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dirty="0"/>
              <a:t>Framework Training</a:t>
            </a:r>
          </a:p>
          <a:p>
            <a:pPr marL="0" indent="0" algn="ctr" eaLnBrk="1" hangingPunct="1">
              <a:spcBef>
                <a:spcPts val="75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3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3297B-A3AD-894C-ABA5-CC60C83D6BF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131CDB-74C2-064B-9CA1-3895C1ECE9B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python objects</a:t>
            </a:r>
          </a:p>
        </p:txBody>
      </p:sp>
      <p:pic>
        <p:nvPicPr>
          <p:cNvPr id="3074" name="Picture 2" descr="cern from cern.ch">
            <a:extLst>
              <a:ext uri="{FF2B5EF4-FFF2-40B4-BE49-F238E27FC236}">
                <a16:creationId xmlns:a16="http://schemas.microsoft.com/office/drawing/2014/main" id="{0BC253FD-BEFD-E1A7-6871-77F3BD4FA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40" y="4386036"/>
            <a:ext cx="1168400" cy="116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E88C669-5A88-0023-6831-7BAE72032D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7917" y="4332343"/>
            <a:ext cx="2046514" cy="1147707"/>
          </a:xfrm>
          <a:prstGeom prst="rect">
            <a:avLst/>
          </a:prstGeom>
        </p:spPr>
      </p:pic>
      <p:pic>
        <p:nvPicPr>
          <p:cNvPr id="5" name="Picture 4" descr="python-logo.png">
            <a:extLst>
              <a:ext uri="{FF2B5EF4-FFF2-40B4-BE49-F238E27FC236}">
                <a16:creationId xmlns:a16="http://schemas.microsoft.com/office/drawing/2014/main" id="{7D4D11BC-0A60-B795-3042-8B6E286098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800" y="4395596"/>
            <a:ext cx="1168400" cy="11684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 for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>
                <a:latin typeface="Arial" panose="020B0604020202020204" pitchFamily="34" charset="0"/>
              </a:rPr>
              <a:t>Deep Copy and Shallow Copy</a:t>
            </a:r>
          </a:p>
          <a:p>
            <a:pPr lvl="1"/>
            <a:r>
              <a:rPr lang="en-GB" sz="2000" dirty="0">
                <a:latin typeface="Arial" panose="020B0604020202020204" pitchFamily="34" charset="0"/>
              </a:rPr>
              <a:t>Why copying objects can surprise you</a:t>
            </a:r>
          </a:p>
          <a:p>
            <a:r>
              <a:rPr lang="en-GB" sz="2400" dirty="0">
                <a:latin typeface="Arial" panose="020B0604020202020204" pitchFamily="34" charset="0"/>
              </a:rPr>
              <a:t>Equality: the __eq__ method</a:t>
            </a:r>
          </a:p>
          <a:p>
            <a:pPr lvl="1"/>
            <a:r>
              <a:rPr lang="en-GB" sz="2000" dirty="0">
                <a:latin typeface="Arial" panose="020B0604020202020204" pitchFamily="34" charset="0"/>
              </a:rPr>
              <a:t>Why == doesn't always mean what you think</a:t>
            </a:r>
          </a:p>
          <a:p>
            <a:r>
              <a:rPr lang="en-GB" sz="2400" dirty="0">
                <a:latin typeface="Arial" panose="020B0604020202020204" pitchFamily="34" charset="0"/>
              </a:rPr>
              <a:t>Operators as Methods: __add__ and friends</a:t>
            </a:r>
          </a:p>
          <a:p>
            <a:pPr lvl="1"/>
            <a:r>
              <a:rPr lang="en-GB" sz="2000" dirty="0">
                <a:latin typeface="Arial" panose="020B0604020202020204" pitchFamily="34" charset="0"/>
              </a:rPr>
              <a:t>Making your own objects behave naturally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50A77-6650-AB4C-8AE3-A76AD49315C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AA33B-6FBC-5A4F-A217-54FB115C8A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python objects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E07473-4524-BA4E-982B-ABAB7A35C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344" y="267460"/>
            <a:ext cx="1099840" cy="109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561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Copying: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>
                <a:latin typeface="Arial" panose="020B0604020202020204" pitchFamily="34" charset="0"/>
              </a:rPr>
              <a:t>What happens when you copy a list?</a:t>
            </a:r>
          </a:p>
          <a:p>
            <a:pPr lvl="1"/>
            <a:r>
              <a:rPr lang="en-GB" sz="2000" dirty="0">
                <a:latin typeface="Courier" pitchFamily="2" charset="0"/>
              </a:rPr>
              <a:t>original = [[1, 2], [3, 4]]</a:t>
            </a:r>
          </a:p>
          <a:p>
            <a:pPr lvl="1"/>
            <a:r>
              <a:rPr lang="en-GB" sz="2000" dirty="0">
                <a:latin typeface="Courier" pitchFamily="2" charset="0"/>
              </a:rPr>
              <a:t>copy_ref = original</a:t>
            </a:r>
          </a:p>
          <a:p>
            <a:pPr lvl="1"/>
            <a:r>
              <a:rPr lang="en-GB" sz="2000" dirty="0">
                <a:latin typeface="Courier" pitchFamily="2" charset="0"/>
              </a:rPr>
              <a:t>copy_ref[0][0] = 99</a:t>
            </a:r>
          </a:p>
          <a:p>
            <a:pPr lvl="1"/>
            <a:r>
              <a:rPr lang="en-GB" sz="2000" dirty="0">
                <a:latin typeface="Courier" pitchFamily="2" charset="0"/>
              </a:rPr>
              <a:t>print(original)  # [[99, 2], [3, 4]]  !!</a:t>
            </a:r>
          </a:p>
          <a:p>
            <a:endParaRPr lang="en-GB" dirty="0"/>
          </a:p>
          <a:p>
            <a:r>
              <a:rPr lang="en-GB" sz="2400" dirty="0">
                <a:latin typeface="Arial" panose="020B0604020202020204" pitchFamily="34" charset="0"/>
              </a:rPr>
              <a:t>Assignment does not copy — it shares a reference</a:t>
            </a:r>
          </a:p>
          <a:p>
            <a:pPr lvl="1"/>
            <a:r>
              <a:rPr lang="en-GB" sz="2000" dirty="0">
                <a:latin typeface="Arial" panose="020B0604020202020204" pitchFamily="34" charset="0"/>
              </a:rPr>
              <a:t>Both names point to the same object in memory</a:t>
            </a:r>
          </a:p>
          <a:p>
            <a:pPr lvl="1"/>
            <a:r>
              <a:rPr lang="en-GB" sz="2000" dirty="0">
                <a:latin typeface="Arial" panose="020B0604020202020204" pitchFamily="34" charset="0"/>
              </a:rPr>
              <a:t>Mutating one affects the other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50A77-6650-AB4C-8AE3-A76AD49315C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AA33B-6FBC-5A4F-A217-54FB115C8A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python objects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E07473-4524-BA4E-982B-ABAB7A35C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344" y="267460"/>
            <a:ext cx="1099840" cy="109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5610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Shallow vs Deep Copy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>
                <a:latin typeface="Arial" panose="020B0604020202020204" pitchFamily="34" charset="0"/>
              </a:rPr>
              <a:t xml:space="preserve">The </a:t>
            </a:r>
            <a:r>
              <a:rPr lang="en-GB" sz="2400" dirty="0">
                <a:latin typeface="Courier" pitchFamily="2" charset="0"/>
              </a:rPr>
              <a:t>copy</a:t>
            </a:r>
            <a:r>
              <a:rPr lang="en-GB" sz="2400" dirty="0">
                <a:latin typeface="Arial" panose="020B0604020202020204" pitchFamily="34" charset="0"/>
              </a:rPr>
              <a:t xml:space="preserve"> module provides two functions</a:t>
            </a:r>
          </a:p>
          <a:p>
            <a:pPr lvl="1"/>
            <a:r>
              <a:rPr lang="en-GB" sz="2000" dirty="0">
                <a:latin typeface="Courier" pitchFamily="2" charset="0"/>
              </a:rPr>
              <a:t>copy.copy(x)</a:t>
            </a:r>
            <a:r>
              <a:rPr lang="en-GB" sz="2000" dirty="0">
                <a:latin typeface="Arial" panose="020B0604020202020204" pitchFamily="34" charset="0"/>
              </a:rPr>
              <a:t xml:space="preserve"> - shallow: copies the outer object, shares inner objects</a:t>
            </a:r>
          </a:p>
          <a:p>
            <a:pPr lvl="1"/>
            <a:r>
              <a:rPr lang="en-GB" sz="2000" dirty="0">
                <a:latin typeface="Courier" pitchFamily="2" charset="0"/>
              </a:rPr>
              <a:t>copy.deepcopy(x)</a:t>
            </a:r>
            <a:r>
              <a:rPr lang="en-GB" sz="2000" dirty="0">
                <a:latin typeface="Arial" panose="020B0604020202020204" pitchFamily="34" charset="0"/>
              </a:rPr>
              <a:t xml:space="preserve"> - deep: recursively copies everything</a:t>
            </a:r>
          </a:p>
          <a:p>
            <a:endParaRPr lang="en-GB" dirty="0"/>
          </a:p>
          <a:p>
            <a:pPr lvl="1"/>
            <a:r>
              <a:rPr lang="en-GB" sz="2000" dirty="0">
                <a:latin typeface="Courier" pitchFamily="2" charset="0"/>
              </a:rPr>
              <a:t>import copy</a:t>
            </a:r>
          </a:p>
          <a:p>
            <a:pPr lvl="1"/>
            <a:r>
              <a:rPr lang="en-GB" sz="2000" dirty="0">
                <a:latin typeface="Courier" pitchFamily="2" charset="0"/>
              </a:rPr>
              <a:t>xs = [[1, 2], [3, 4]]</a:t>
            </a:r>
          </a:p>
          <a:p>
            <a:pPr lvl="1"/>
            <a:r>
              <a:rPr lang="en-GB" sz="2000" dirty="0">
                <a:latin typeface="Courier" pitchFamily="2" charset="0"/>
              </a:rPr>
              <a:t xml:space="preserve">ys = copy.copy(xs)       # shallow</a:t>
            </a:r>
          </a:p>
          <a:p>
            <a:pPr lvl="1"/>
            <a:r>
              <a:rPr lang="en-GB" sz="2000" dirty="0">
                <a:latin typeface="Courier" pitchFamily="2" charset="0"/>
              </a:rPr>
              <a:t xml:space="preserve">zs = copy.deepcopy(xs)  # deep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50A77-6650-AB4C-8AE3-A76AD49315C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AA33B-6FBC-5A4F-A217-54FB115C8A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python objects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E07473-4524-BA4E-982B-ABAB7A35C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344" y="267460"/>
            <a:ext cx="1099840" cy="109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5610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Equality: the Surprise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>
                <a:latin typeface="Arial" panose="020B0604020202020204" pitchFamily="34" charset="0"/>
              </a:rPr>
              <a:t>What does == actually do?</a:t>
            </a:r>
          </a:p>
          <a:p>
            <a:pPr lvl="1"/>
            <a:r>
              <a:rPr lang="en-GB" sz="2000" dirty="0">
                <a:latin typeface="Courier" pitchFamily="2" charset="0"/>
              </a:rPr>
              <a:t>p1 = Point(3, 4)</a:t>
            </a:r>
          </a:p>
          <a:p>
            <a:pPr lvl="1"/>
            <a:r>
              <a:rPr lang="en-GB" sz="2000" dirty="0">
                <a:latin typeface="Courier" pitchFamily="2" charset="0"/>
              </a:rPr>
              <a:t>p2 = Point(3, 4)</a:t>
            </a:r>
          </a:p>
          <a:p>
            <a:pPr lvl="1"/>
            <a:r>
              <a:rPr lang="en-GB" sz="2000" dirty="0">
                <a:latin typeface="Courier" pitchFamily="2" charset="0"/>
              </a:rPr>
              <a:t>print(p1 == p2)  # False  !!</a:t>
            </a:r>
          </a:p>
          <a:p>
            <a:endParaRPr lang="en-GB" dirty="0"/>
          </a:p>
          <a:p>
            <a:r>
              <a:rPr lang="en-GB" sz="2400" dirty="0">
                <a:latin typeface="Arial" panose="020B0604020202020204" pitchFamily="34" charset="0"/>
              </a:rPr>
              <a:t>By default, Python compares identity, not value</a:t>
            </a:r>
          </a:p>
          <a:p>
            <a:pPr lvl="1"/>
            <a:r>
              <a:rPr lang="en-GB" sz="2000" dirty="0">
                <a:latin typeface="Arial" panose="020B0604020202020204" pitchFamily="34" charset="0"/>
              </a:rPr>
              <a:t>p1 and p2 are different objects in memory</a:t>
            </a:r>
          </a:p>
          <a:p>
            <a:pPr lvl="1"/>
            <a:r>
              <a:rPr lang="en-GB" sz="2000" dirty="0">
                <a:latin typeface="Arial" panose="020B0604020202020204" pitchFamily="34" charset="0"/>
              </a:rPr>
              <a:t>Even though they hold the same data, == returns False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50A77-6650-AB4C-8AE3-A76AD49315C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AA33B-6FBC-5A4F-A217-54FB115C8A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python objects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E07473-4524-BA4E-982B-ABAB7A35C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344" y="267460"/>
            <a:ext cx="1099840" cy="109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5610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Defining __eq__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>
                <a:latin typeface="Arial" panose="020B0604020202020204" pitchFamily="34" charset="0"/>
              </a:rPr>
              <a:t xml:space="preserve">Implement </a:t>
            </a:r>
            <a:r>
              <a:rPr lang="en-GB" sz="2400" dirty="0">
                <a:latin typeface="Courier" pitchFamily="2" charset="0"/>
              </a:rPr>
              <a:t>__eq__</a:t>
            </a:r>
            <a:r>
              <a:rPr lang="en-GB" sz="2400" dirty="0">
                <a:latin typeface="Arial" panose="020B0604020202020204" pitchFamily="34" charset="0"/>
              </a:rPr>
              <a:t xml:space="preserve"> to define what equality means for your class</a:t>
            </a:r>
          </a:p>
          <a:p>
            <a:endParaRPr lang="en-GB" dirty="0"/>
          </a:p>
          <a:p>
            <a:pPr lvl="1"/>
            <a:r>
              <a:rPr lang="en-GB" sz="2000" dirty="0">
                <a:latin typeface="Courier" pitchFamily="2" charset="0"/>
              </a:rPr>
              <a:t>class Point:</a:t>
            </a:r>
          </a:p>
          <a:p>
            <a:pPr lvl="1"/>
            <a:r>
              <a:rPr lang="en-GB" sz="2000" dirty="0">
                <a:latin typeface="Courier" pitchFamily="2" charset="0"/>
              </a:rPr>
              <a:t xml:space="preserve">    def __init__(self, x, y):</a:t>
            </a:r>
          </a:p>
          <a:p>
            <a:pPr lvl="1"/>
            <a:r>
              <a:rPr lang="en-GB" sz="2000" dirty="0">
                <a:latin typeface="Courier" pitchFamily="2" charset="0"/>
              </a:rPr>
              <a:t xml:space="preserve">        self.x = x</a:t>
            </a:r>
          </a:p>
          <a:p>
            <a:pPr lvl="1"/>
            <a:r>
              <a:rPr lang="en-GB" sz="2000" dirty="0">
                <a:latin typeface="Courier" pitchFamily="2" charset="0"/>
              </a:rPr>
              <a:t xml:space="preserve">        self.y = y</a:t>
            </a:r>
          </a:p>
          <a:p>
            <a:pPr lvl="1"/>
            <a:r>
              <a:rPr lang="en-GB" sz="2000" dirty="0">
                <a:latin typeface="Courier" pitchFamily="2" charset="0"/>
              </a:rPr>
              <a:t xml:space="preserve">    def __eq__(self, other):</a:t>
            </a:r>
          </a:p>
          <a:p>
            <a:pPr lvl="1"/>
            <a:r>
              <a:rPr lang="en-GB" sz="2000" dirty="0">
                <a:latin typeface="Courier" pitchFamily="2" charset="0"/>
              </a:rPr>
              <a:t xml:space="preserve">        return self.x == other.x and self.y == other.y</a:t>
            </a:r>
          </a:p>
          <a:p>
            <a:endParaRPr lang="en-GB" dirty="0"/>
          </a:p>
          <a:p>
            <a:pPr lvl="1"/>
            <a:r>
              <a:rPr lang="en-GB" sz="2000" dirty="0">
                <a:latin typeface="Courier" pitchFamily="2" charset="0"/>
              </a:rPr>
              <a:t>p1 = Point(3, 4)</a:t>
            </a:r>
          </a:p>
          <a:p>
            <a:pPr lvl="1"/>
            <a:r>
              <a:rPr lang="en-GB" sz="2000" dirty="0">
                <a:latin typeface="Courier" pitchFamily="2" charset="0"/>
              </a:rPr>
              <a:t>p2 = Point(3, 4)</a:t>
            </a:r>
          </a:p>
          <a:p>
            <a:pPr lvl="1"/>
            <a:r>
              <a:rPr lang="en-GB" sz="2000" dirty="0">
                <a:latin typeface="Courier" pitchFamily="2" charset="0"/>
              </a:rPr>
              <a:t>print(p1 == p2)  # True</a:t>
            </a:r>
          </a:p>
          <a:p>
            <a:endParaRPr lang="en-GB" dirty="0"/>
          </a:p>
          <a:p>
            <a:r>
              <a:rPr lang="en-GB" sz="2400" dirty="0">
                <a:latin typeface="Arial" panose="020B0604020202020204" pitchFamily="34" charset="0"/>
              </a:rPr>
              <a:t xml:space="preserve">Python calls </a:t>
            </a:r>
            <a:r>
              <a:rPr lang="en-GB" sz="2400" dirty="0">
                <a:latin typeface="Courier" pitchFamily="2" charset="0"/>
              </a:rPr>
              <a:t>p1.__eq__(p2)</a:t>
            </a:r>
            <a:r>
              <a:rPr lang="en-GB" sz="2400" dirty="0">
                <a:latin typeface="Arial" panose="020B0604020202020204" pitchFamily="34" charset="0"/>
              </a:rPr>
              <a:t xml:space="preserve"> whenever it sees </a:t>
            </a:r>
            <a:r>
              <a:rPr lang="en-GB" sz="2400" dirty="0">
                <a:latin typeface="Courier" pitchFamily="2" charset="0"/>
              </a:rPr>
              <a:t>p1 == p2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50A77-6650-AB4C-8AE3-A76AD49315C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AA33B-6FBC-5A4F-A217-54FB115C8A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python objects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E07473-4524-BA4E-982B-ABAB7A35C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344" y="267460"/>
            <a:ext cx="1099840" cy="109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5610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Operators as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>
                <a:latin typeface="Arial" panose="020B0604020202020204" pitchFamily="34" charset="0"/>
              </a:rPr>
              <a:t>Every operator in Python maps to a dunder method</a:t>
            </a:r>
          </a:p>
          <a:p>
            <a:pPr lvl="1"/>
            <a:r>
              <a:rPr lang="en-GB" sz="2000" dirty="0">
                <a:latin typeface="Courier" pitchFamily="2" charset="0"/>
              </a:rPr>
              <a:t>p1 + p2</a:t>
            </a:r>
            <a:r>
              <a:rPr lang="en-GB" sz="2000" dirty="0">
                <a:latin typeface="Arial" panose="020B0604020202020204" pitchFamily="34" charset="0"/>
              </a:rPr>
              <a:t xml:space="preserve">  calls  </a:t>
            </a:r>
            <a:r>
              <a:rPr lang="en-GB" sz="2000" dirty="0">
                <a:latin typeface="Courier" pitchFamily="2" charset="0"/>
              </a:rPr>
              <a:t>p1.__add__(p2)</a:t>
            </a:r>
          </a:p>
          <a:p>
            <a:pPr lvl="1"/>
            <a:r>
              <a:rPr lang="en-GB" sz="2000" dirty="0">
                <a:latin typeface="Courier" pitchFamily="2" charset="0"/>
              </a:rPr>
              <a:t>p1 == p2</a:t>
            </a:r>
            <a:r>
              <a:rPr lang="en-GB" sz="2000" dirty="0">
                <a:latin typeface="Arial" panose="020B0604020202020204" pitchFamily="34" charset="0"/>
              </a:rPr>
              <a:t xml:space="preserve">  calls  </a:t>
            </a:r>
            <a:r>
              <a:rPr lang="en-GB" sz="2000" dirty="0">
                <a:latin typeface="Courier" pitchFamily="2" charset="0"/>
              </a:rPr>
              <a:t>p1.__eq__(p2)</a:t>
            </a:r>
          </a:p>
          <a:p>
            <a:pPr lvl="1"/>
            <a:r>
              <a:rPr lang="en-GB" sz="2000" dirty="0">
                <a:latin typeface="Courier" pitchFamily="2" charset="0"/>
              </a:rPr>
              <a:t>len(p1)</a:t>
            </a:r>
            <a:r>
              <a:rPr lang="en-GB" sz="2000" dirty="0">
                <a:latin typeface="Arial" panose="020B0604020202020204" pitchFamily="34" charset="0"/>
              </a:rPr>
              <a:t xml:space="preserve">   calls  </a:t>
            </a:r>
            <a:r>
              <a:rPr lang="en-GB" sz="2000" dirty="0">
                <a:latin typeface="Courier" pitchFamily="2" charset="0"/>
              </a:rPr>
              <a:t>p1.__len__()</a:t>
            </a:r>
          </a:p>
          <a:p>
            <a:endParaRPr lang="en-GB" dirty="0"/>
          </a:p>
          <a:p>
            <a:r>
              <a:rPr lang="en-GB" sz="2400" dirty="0">
                <a:latin typeface="Arial" panose="020B0604020202020204" pitchFamily="34" charset="0"/>
              </a:rPr>
              <a:t>You already know this pattern from __str__ and __repr__</a:t>
            </a:r>
          </a:p>
          <a:p>
            <a:pPr lvl="1"/>
            <a:r>
              <a:rPr lang="en-GB" sz="2000" dirty="0">
                <a:latin typeface="Arial" panose="020B0604020202020204" pitchFamily="34" charset="0"/>
              </a:rPr>
              <a:t>Dunder methods are how Python lets your objects behave natively</a:t>
            </a:r>
          </a:p>
          <a:p>
            <a:endParaRPr lang="en-GB" dirty="0"/>
          </a:p>
          <a:p>
            <a:r>
              <a:rPr lang="en-GB" sz="2400" dirty="0">
                <a:latin typeface="Arial" panose="020B0604020202020204" pitchFamily="34" charset="0"/>
              </a:rPr>
              <a:t>Goal: build a Vector class that supports +</a:t>
            </a:r>
          </a:p>
          <a:p>
            <a:pPr lvl="1"/>
            <a:r>
              <a:rPr lang="en-GB" sz="2000" dirty="0">
                <a:latin typeface="Courier" pitchFamily="2" charset="0"/>
              </a:rPr>
              <a:t>v1 + v2</a:t>
            </a:r>
            <a:r>
              <a:rPr lang="en-GB" sz="2000" dirty="0">
                <a:latin typeface="Arial" panose="020B0604020202020204" pitchFamily="34" charset="0"/>
              </a:rPr>
              <a:t xml:space="preserve"> should return a new Vector, not raise an error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50A77-6650-AB4C-8AE3-A76AD49315C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AA33B-6FBC-5A4F-A217-54FB115C8A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python objects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E07473-4524-BA4E-982B-ABAB7A35C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344" y="267460"/>
            <a:ext cx="1099840" cy="109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5610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Defining __add__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>
                <a:latin typeface="Arial" panose="020B0604020202020204" pitchFamily="34" charset="0"/>
              </a:rPr>
              <a:t xml:space="preserve">Implement </a:t>
            </a:r>
            <a:r>
              <a:rPr lang="en-GB" sz="2400" dirty="0">
                <a:latin typeface="Courier" pitchFamily="2" charset="0"/>
              </a:rPr>
              <a:t>__add__</a:t>
            </a:r>
            <a:r>
              <a:rPr lang="en-GB" sz="2400" dirty="0">
                <a:latin typeface="Arial" panose="020B0604020202020204" pitchFamily="34" charset="0"/>
              </a:rPr>
              <a:t xml:space="preserve"> to support the + operator</a:t>
            </a:r>
          </a:p>
          <a:p>
            <a:endParaRPr lang="en-GB" dirty="0"/>
          </a:p>
          <a:p>
            <a:pPr lvl="1"/>
            <a:r>
              <a:rPr lang="en-GB" sz="2000" dirty="0">
                <a:latin typeface="Courier" pitchFamily="2" charset="0"/>
              </a:rPr>
              <a:t>class Vector:</a:t>
            </a:r>
          </a:p>
          <a:p>
            <a:pPr lvl="1"/>
            <a:r>
              <a:rPr lang="en-GB" sz="2000" dirty="0">
                <a:latin typeface="Courier" pitchFamily="2" charset="0"/>
              </a:rPr>
              <a:t xml:space="preserve">    def __init__(self, x, y):</a:t>
            </a:r>
          </a:p>
          <a:p>
            <a:pPr lvl="1"/>
            <a:r>
              <a:rPr lang="en-GB" sz="2000" dirty="0">
                <a:latin typeface="Courier" pitchFamily="2" charset="0"/>
              </a:rPr>
              <a:t xml:space="preserve">        self.x = x</a:t>
            </a:r>
          </a:p>
          <a:p>
            <a:pPr lvl="1"/>
            <a:r>
              <a:rPr lang="en-GB" sz="2000" dirty="0">
                <a:latin typeface="Courier" pitchFamily="2" charset="0"/>
              </a:rPr>
              <a:t xml:space="preserve">        self.y = y</a:t>
            </a:r>
          </a:p>
          <a:p>
            <a:pPr lvl="1"/>
            <a:r>
              <a:rPr lang="en-GB" sz="2000" dirty="0">
                <a:latin typeface="Courier" pitchFamily="2" charset="0"/>
              </a:rPr>
              <a:t xml:space="preserve">    def __add__(self, other):</a:t>
            </a:r>
          </a:p>
          <a:p>
            <a:pPr lvl="1"/>
            <a:r>
              <a:rPr lang="en-GB" sz="2000" dirty="0">
                <a:latin typeface="Courier" pitchFamily="2" charset="0"/>
              </a:rPr>
              <a:t xml:space="preserve">        return Vector(self.x + other.x, self.y + other.y)</a:t>
            </a:r>
          </a:p>
          <a:p>
            <a:pPr lvl="1"/>
            <a:r>
              <a:rPr lang="en-GB" sz="2000" dirty="0">
                <a:latin typeface="Courier" pitchFamily="2" charset="0"/>
              </a:rPr>
              <a:t xml:space="preserve">    def __str__(self):</a:t>
            </a:r>
          </a:p>
          <a:p>
            <a:pPr lvl="1"/>
            <a:r>
              <a:rPr lang="en-GB" sz="2000" dirty="0">
                <a:latin typeface="Courier" pitchFamily="2" charset="0"/>
              </a:rPr>
              <a:t xml:space="preserve">        return f"Vector({self.x}, {self.y})"</a:t>
            </a:r>
          </a:p>
          <a:p>
            <a:endParaRPr lang="en-GB" dirty="0"/>
          </a:p>
          <a:p>
            <a:pPr lvl="1"/>
            <a:r>
              <a:rPr lang="en-GB" sz="2000" dirty="0">
                <a:latin typeface="Courier" pitchFamily="2" charset="0"/>
              </a:rPr>
              <a:t>v1 = Vector(1, 2)</a:t>
            </a:r>
          </a:p>
          <a:p>
            <a:pPr lvl="1"/>
            <a:r>
              <a:rPr lang="en-GB" sz="2000" dirty="0">
                <a:latin typeface="Courier" pitchFamily="2" charset="0"/>
              </a:rPr>
              <a:t>v2 = Vector(3, 4)</a:t>
            </a:r>
          </a:p>
          <a:p>
            <a:pPr lvl="1"/>
            <a:r>
              <a:rPr lang="en-GB" sz="2000" dirty="0">
                <a:latin typeface="Courier" pitchFamily="2" charset="0"/>
              </a:rPr>
              <a:t>print(v1 + v2)  # Vector(4, 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50A77-6650-AB4C-8AE3-A76AD49315C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AA33B-6FBC-5A4F-A217-54FB115C8A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python objects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E07473-4524-BA4E-982B-ABAB7A35C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344" y="267460"/>
            <a:ext cx="1099840" cy="109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5610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Putting it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>
                <a:latin typeface="Arial" panose="020B0604020202020204" pitchFamily="34" charset="0"/>
              </a:rPr>
              <a:t>A complete Vector class combining all three patterns</a:t>
            </a:r>
          </a:p>
          <a:p>
            <a:endParaRPr lang="en-GB" dirty="0"/>
          </a:p>
          <a:p>
            <a:pPr lvl="1"/>
            <a:r>
              <a:rPr lang="en-GB" sz="2000" dirty="0">
                <a:latin typeface="Courier" pitchFamily="2" charset="0"/>
              </a:rPr>
              <a:t>class Vector:</a:t>
            </a:r>
          </a:p>
          <a:p>
            <a:pPr lvl="1"/>
            <a:r>
              <a:rPr lang="en-GB" sz="2000" dirty="0">
                <a:latin typeface="Courier" pitchFamily="2" charset="0"/>
              </a:rPr>
              <a:t xml:space="preserve">    def __init__(self, x, y):</a:t>
            </a:r>
          </a:p>
          <a:p>
            <a:pPr lvl="1"/>
            <a:r>
              <a:rPr lang="en-GB" sz="2000" dirty="0">
                <a:latin typeface="Courier" pitchFamily="2" charset="0"/>
              </a:rPr>
              <a:t xml:space="preserve">        self.x = x; self.y = y</a:t>
            </a:r>
          </a:p>
          <a:p>
            <a:pPr lvl="1"/>
            <a:r>
              <a:rPr lang="en-GB" sz="2000" dirty="0">
                <a:latin typeface="Courier" pitchFamily="2" charset="0"/>
              </a:rPr>
              <a:t xml:space="preserve">    def __eq__(self, other):</a:t>
            </a:r>
          </a:p>
          <a:p>
            <a:pPr lvl="1"/>
            <a:r>
              <a:rPr lang="en-GB" sz="2000" dirty="0">
                <a:latin typeface="Courier" pitchFamily="2" charset="0"/>
              </a:rPr>
              <a:t xml:space="preserve">        return self.x == other.x and self.y == other.y</a:t>
            </a:r>
          </a:p>
          <a:p>
            <a:pPr lvl="1"/>
            <a:r>
              <a:rPr lang="en-GB" sz="2000" dirty="0">
                <a:latin typeface="Courier" pitchFamily="2" charset="0"/>
              </a:rPr>
              <a:t xml:space="preserve">    def __add__(self, other):</a:t>
            </a:r>
          </a:p>
          <a:p>
            <a:pPr lvl="1"/>
            <a:r>
              <a:rPr lang="en-GB" sz="2000" dirty="0">
                <a:latin typeface="Courier" pitchFamily="2" charset="0"/>
              </a:rPr>
              <a:t xml:space="preserve">        return Vector(self.x + other.x, self.y + other.y)</a:t>
            </a:r>
          </a:p>
          <a:p>
            <a:pPr lvl="1"/>
            <a:r>
              <a:rPr lang="en-GB" sz="2000" dirty="0">
                <a:latin typeface="Courier" pitchFamily="2" charset="0"/>
              </a:rPr>
              <a:t xml:space="preserve">    def __str__(self):</a:t>
            </a:r>
          </a:p>
          <a:p>
            <a:pPr lvl="1"/>
            <a:r>
              <a:rPr lang="en-GB" sz="2000" dirty="0">
                <a:latin typeface="Courier" pitchFamily="2" charset="0"/>
              </a:rPr>
              <a:t xml:space="preserve">        return f"Vector({self.x}, {self.y})"</a:t>
            </a:r>
          </a:p>
          <a:p>
            <a:endParaRPr lang="en-GB" dirty="0"/>
          </a:p>
          <a:p>
            <a:r>
              <a:rPr lang="en-GB" sz="2400" dirty="0">
                <a:latin typeface="Arial" panose="020B0604020202020204" pitchFamily="34" charset="0"/>
              </a:rPr>
              <a:t xml:space="preserve">Note: </a:t>
            </a:r>
            <a:r>
              <a:rPr lang="en-GB" sz="2400" dirty="0">
                <a:latin typeface="Courier" pitchFamily="2" charset="0"/>
              </a:rPr>
              <a:t>__add__</a:t>
            </a:r>
            <a:r>
              <a:rPr lang="en-GB" sz="2400" dirty="0">
                <a:latin typeface="Arial" panose="020B0604020202020204" pitchFamily="34" charset="0"/>
              </a:rPr>
              <a:t xml:space="preserve"> returns a </a:t>
            </a:r>
            <a:r>
              <a:rPr lang="en-GB" sz="2400" dirty="0">
                <a:latin typeface="Courier" pitchFamily="2" charset="0"/>
              </a:rPr>
              <a:t>new</a:t>
            </a:r>
            <a:r>
              <a:rPr lang="en-GB" sz="2400" dirty="0">
                <a:latin typeface="Arial" panose="020B0604020202020204" pitchFamily="34" charset="0"/>
              </a:rPr>
              <a:t xml:space="preserve"> Vector - it does not modify the originals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50A77-6650-AB4C-8AE3-A76AD49315C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AA33B-6FBC-5A4F-A217-54FB115C8A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python objects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E07473-4524-BA4E-982B-ABAB7A35C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344" y="267460"/>
            <a:ext cx="1099840" cy="109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5610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0B83A-8240-6147-BB3C-4731E5B9A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0C306-97F1-C048-823F-56E72FB60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3900" dirty="0">
                <a:solidFill>
                  <a:srgbClr val="0000FF"/>
                </a:solidFill>
              </a:rPr>
              <a:t>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CD4E9-76D0-6F4A-BAD8-FB63C10E5BE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01/12/2022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AD678-DDAF-AB49-BFD8-6EA8C593E1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python objects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DA270-FC9E-3F42-AD7E-E626A82828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>
              <a:defRPr/>
            </a:pPr>
            <a:fld id="{18317CFC-9530-4DD8-A082-6933CE16E3A3}" type="slidenum">
              <a:rPr lang="en-GB" smtClean="0"/>
              <a:pPr>
                <a:defRPr/>
              </a:pPr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57991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aramond"/>
        <a:ea typeface="Arial Unicode MS"/>
        <a:cs typeface="Arial Unicode MS"/>
      </a:majorFont>
      <a:minorFont>
        <a:latin typeface="Verdana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Garamond"/>
        <a:ea typeface="Arial Unicode MS"/>
        <a:cs typeface="Arial Unicode MS"/>
      </a:majorFont>
      <a:minorFont>
        <a:latin typeface="Verdana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</TotalTime>
  <Words>2337</Words>
  <Application>Microsoft Macintosh PowerPoint</Application>
  <PresentationFormat>A4 Paper (210x297 mm)</PresentationFormat>
  <Paragraphs>407</Paragraphs>
  <Slides>19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Arial</vt:lpstr>
      <vt:lpstr>Calibri</vt:lpstr>
      <vt:lpstr>Courier</vt:lpstr>
      <vt:lpstr>Garamond</vt:lpstr>
      <vt:lpstr>Lucida Grande</vt:lpstr>
      <vt:lpstr>Menlo</vt:lpstr>
      <vt:lpstr>Times New Roman</vt:lpstr>
      <vt:lpstr>Verdana</vt:lpstr>
      <vt:lpstr>Wingdings</vt:lpstr>
      <vt:lpstr>Default Design</vt:lpstr>
      <vt:lpstr>1_Default Design</vt:lpstr>
      <vt:lpstr>Additional Python Features</vt:lpstr>
      <vt:lpstr>Plan for Session</vt:lpstr>
      <vt:lpstr>Strings and Regular Expressions</vt:lpstr>
      <vt:lpstr>RegEx Functions</vt:lpstr>
      <vt:lpstr>RegEx meta Characters</vt:lpstr>
      <vt:lpstr>RegEx Special Sequences</vt:lpstr>
      <vt:lpstr>RegEx Sets</vt:lpstr>
      <vt:lpstr>Copying: deep and shallow copying</vt:lpstr>
      <vt:lpstr>Copying: deep and shallow copying</vt:lpstr>
      <vt:lpstr>Operators</vt:lpstr>
      <vt:lpstr>Defining Operators</vt:lpstr>
      <vt:lpstr>Defining Operators</vt:lpstr>
      <vt:lpstr>Numerical Operators</vt:lpstr>
      <vt:lpstr>Numerical Operators</vt:lpstr>
      <vt:lpstr>Numerical Operators</vt:lpstr>
      <vt:lpstr>Comparison Operators</vt:lpstr>
      <vt:lpstr>Comparison Operators</vt:lpstr>
      <vt:lpstr>Logical Operators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jh</dc:creator>
  <cp:lastModifiedBy>John Hunt</cp:lastModifiedBy>
  <cp:revision>94</cp:revision>
  <dcterms:modified xsi:type="dcterms:W3CDTF">2023-03-30T14:17:53Z</dcterms:modified>
</cp:coreProperties>
</file>